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3327400"/>
            <a:ext cx="127000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000" b="0">
                <a:solidFill>
                  <a:srgbClr val="020406"/>
                </a:solidFill>
                <a:latin typeface="Inter ExtraBold"/>
              </a:rPr>
              <a:t>WASTEWISE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0" y="4292600"/>
            <a:ext cx="1270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2B59F0"/>
                </a:solidFill>
                <a:latin typeface="Inter"/>
              </a:rPr>
              <a:t>“From waste to resource, with proof.”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4978400"/>
            <a:ext cx="1270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4A4A55"/>
                </a:solidFill>
                <a:latin typeface="Inter"/>
              </a:rPr>
              <a:t>An offline AI waste scanner and campus collection system that counts only verified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0" y="6070600"/>
            <a:ext cx="12700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20406"/>
                </a:solidFill>
                <a:latin typeface="Inter"/>
              </a:rPr>
              <a:t>Team Name: Team WasteWise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6578600"/>
            <a:ext cx="12700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20406"/>
                </a:solidFill>
                <a:latin typeface="Inter"/>
              </a:rPr>
              <a:t>Team Members: Aditya Ranjan · Krishnansu Mohanty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19050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0" y="2438400"/>
            <a:ext cx="1270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0">
                <a:solidFill>
                  <a:srgbClr val="2B59F0"/>
                </a:solidFill>
                <a:latin typeface="Inter SemiBold"/>
              </a:rPr>
              <a:t>Colour-coded bins everywhere, yet waste is still mixed and recovery is never proven.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4000" y="3327400"/>
            <a:ext cx="4030133" cy="340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8000" y="33274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3581400"/>
            <a:ext cx="3547533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Confusion at the 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4011929"/>
            <a:ext cx="3547533" cy="2566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A greasy pizza box, a used tissue, a dead power bank: people genuinely don’t know if it is wet, dry, sanitary or special-care.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28933" y="3327400"/>
            <a:ext cx="4030133" cy="340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82933" y="33274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2933" y="3581400"/>
            <a:ext cx="3547533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Contaminated streams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2933" y="4011929"/>
            <a:ext cx="3547533" cy="2566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One wrong item spoils a whole bin. Mixed waste cannot be composted or recycled, so it goes to landfill.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63866" y="3327400"/>
            <a:ext cx="4030133" cy="340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17866" y="3327400"/>
            <a:ext cx="889000" cy="76200"/>
          </a:xfrm>
          <a:prstGeom prst="rect">
            <a:avLst/>
          </a:prstGeom>
          <a:solidFill>
            <a:srgbClr val="8B3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17866" y="3581400"/>
            <a:ext cx="3547533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No proof of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7866" y="4011929"/>
            <a:ext cx="3547533" cy="2566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Once waste leaves the bin, nobody tracks whether it was collected, let alone recycled. Impact figures are guesses.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4000" y="6959600"/>
            <a:ext cx="12700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50" b="0">
                <a:solidFill>
                  <a:srgbClr val="4A4A55"/>
                </a:solidFill>
                <a:latin typeface="Inter"/>
              </a:rPr>
              <a:t>Segregation at source is mandatory under India’s Solid Waste Management Rules, 2016, but campuses have no simple tool to guide it or to measure what actually gets recovered.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16510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0" y="2184400"/>
            <a:ext cx="1270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>
                <a:solidFill>
                  <a:srgbClr val="2B59F0"/>
                </a:solidFill>
                <a:latin typeface="Inter ExtraBold"/>
              </a:rPr>
              <a:t>WasteWise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2743200"/>
            <a:ext cx="1270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4A4A55"/>
                </a:solidFill>
                <a:latin typeface="Inter"/>
              </a:rPr>
              <a:t>One app that closes the loop from “what is this?” to “it was recovered, and here is the proof.”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4000" y="3581400"/>
            <a:ext cx="29845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0" y="35814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0" y="3835400"/>
            <a:ext cx="2501900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1.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4247515"/>
            <a:ext cx="2501900" cy="2204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0">
                <a:solidFill>
                  <a:srgbClr val="4A4A55"/>
                </a:solidFill>
                <a:latin typeface="Inter"/>
              </a:rPr>
              <a:t>Snap a photo. A pretrained vision model, running fully offline, suggests the material and shows its confidence honestly.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2500" y="3581400"/>
            <a:ext cx="29845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0" y="35814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0" y="3835400"/>
            <a:ext cx="2501900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2. Segregate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247515"/>
            <a:ext cx="2501900" cy="2204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0">
                <a:solidFill>
                  <a:srgbClr val="4A4A55"/>
                </a:solidFill>
                <a:latin typeface="Inter"/>
              </a:rPr>
              <a:t>Two quick context checks map the item to India’s four streams, with handling steps and hazard flags.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1000" y="3581400"/>
            <a:ext cx="29845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25000" y="3581400"/>
            <a:ext cx="889000" cy="76200"/>
          </a:xfrm>
          <a:prstGeom prst="rect">
            <a:avLst/>
          </a:prstGeom>
          <a:solidFill>
            <a:srgbClr val="8B3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3835400"/>
            <a:ext cx="2501900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3. Request pickup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4247515"/>
            <a:ext cx="2501900" cy="2204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0">
                <a:solidFill>
                  <a:srgbClr val="4A4A55"/>
                </a:solidFill>
                <a:latin typeface="Inter"/>
              </a:rPr>
              <a:t>One tap books a campus pickup with location and weight, pre-filled from the scan.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09500" y="3581400"/>
            <a:ext cx="29845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763500" y="35814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63500" y="3835400"/>
            <a:ext cx="2501900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4. Verify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3500" y="4247515"/>
            <a:ext cx="2501900" cy="2204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0">
                <a:solidFill>
                  <a:srgbClr val="4A4A55"/>
                </a:solidFill>
                <a:latin typeface="Inter"/>
              </a:rPr>
              <a:t>The collector accepts, weighs and confirms recovery only with evidence such as a weighment slip.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4000" y="6959600"/>
            <a:ext cx="1270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20406"/>
                </a:solidFill>
                <a:latin typeface="Inter"/>
              </a:rPr>
              <a:t>Reported  →  Accepted  →  Collected  →  Recovery Confirmed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15748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4000" y="2286000"/>
            <a:ext cx="4047066" cy="2400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8000" y="22860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0" y="2540000"/>
            <a:ext cx="3564466" cy="693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Offline AI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2952115"/>
            <a:ext cx="3564466" cy="1581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EfficientNet-Lite0 on CPU via ONNX Runtime. Shows the material score and raw top-5 classes as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20466" y="2286000"/>
            <a:ext cx="4047066" cy="2400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4466" y="22860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4466" y="2540000"/>
            <a:ext cx="3564466" cy="693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Four-stream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4466" y="2952115"/>
            <a:ext cx="3564466" cy="1581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Wet, dry, sanitary and special-care, with rinse, sharp-handling and hazard steps per item.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46933" y="2286000"/>
            <a:ext cx="4047066" cy="2400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0933" y="2286000"/>
            <a:ext cx="889000" cy="76200"/>
          </a:xfrm>
          <a:prstGeom prst="rect">
            <a:avLst/>
          </a:prstGeom>
          <a:solidFill>
            <a:srgbClr val="8B3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0933" y="2540000"/>
            <a:ext cx="3564466" cy="693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Campus pickup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0933" y="2952115"/>
            <a:ext cx="3564466" cy="1581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Hostel or location, category, weight and notes, tracked by request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4000" y="4965700"/>
            <a:ext cx="4047066" cy="2400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49657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8000" y="5219700"/>
            <a:ext cx="3564466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Collector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5631815"/>
            <a:ext cx="3564466" cy="1581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Reported, Accepted, Collected, Recovery Confirmed. Status order is enforced at every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0466" y="4965700"/>
            <a:ext cx="4047066" cy="2400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4466" y="49657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4466" y="5219700"/>
            <a:ext cx="3564466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Evidence-backed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4466" y="5631815"/>
            <a:ext cx="3564466" cy="1581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A receipt or slip is required. Recovered kg can never exceed collected kg. Full audit trail.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46933" y="4965700"/>
            <a:ext cx="4047066" cy="2400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00933" y="4965700"/>
            <a:ext cx="889000" cy="76200"/>
          </a:xfrm>
          <a:prstGeom prst="rect">
            <a:avLst/>
          </a:prstGeom>
          <a:solidFill>
            <a:srgbClr val="8B3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0933" y="5219700"/>
            <a:ext cx="3564466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0F0F"/>
                </a:solidFill>
                <a:latin typeface="Inter"/>
              </a:rPr>
              <a:t>Impact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0933" y="5631815"/>
            <a:ext cx="3564466" cy="1581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Reported vs collected vs verified kg per stream, hotspots, trends, funnel and CSV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15621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0" y="2159000"/>
            <a:ext cx="1270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B59F0"/>
                </a:solidFill>
                <a:latin typeface="Inter"/>
              </a:rPr>
              <a:t>“Most apps stop at identification. We follow the waste all the way to verified recovery.”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28702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THE DIFFERENTIATOR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4000" y="3581400"/>
            <a:ext cx="4047066" cy="3149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0" y="35814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0" y="3835400"/>
            <a:ext cx="3564466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Honest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4265930"/>
            <a:ext cx="3564466" cy="2312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Low scores are flagged “please confirm” or “not recognised”. Every decision is logged as AI-confirmed, AI-corrected or manual, which becomes training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0466" y="3581400"/>
            <a:ext cx="4047066" cy="3149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74466" y="35814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4466" y="3835400"/>
            <a:ext cx="3564466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Material is not the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4466" y="4265930"/>
            <a:ext cx="3564466" cy="2312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A camera cannot see food on a cup or past hygiene use. We ask two questions and a rules engine decides the stream.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6933" y="3581400"/>
            <a:ext cx="4047066" cy="3149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00933" y="3581400"/>
            <a:ext cx="889000" cy="76200"/>
          </a:xfrm>
          <a:prstGeom prst="rect">
            <a:avLst/>
          </a:prstGeom>
          <a:solidFill>
            <a:srgbClr val="8B3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0933" y="3835400"/>
            <a:ext cx="3564466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Proof, not estimates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0933" y="4265930"/>
            <a:ext cx="3564466" cy="2312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"/>
              </a:rPr>
              <a:t>We report three numbers: reported, collected and verifiably recovered. Simulated and demo data are counted separately, and sanitary waste is never counted as recovered.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17780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4000" y="2489200"/>
            <a:ext cx="6210300" cy="2171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8000" y="24892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0" y="2743200"/>
            <a:ext cx="5727700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App &amp;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3173730"/>
            <a:ext cx="5727700" cy="1334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Python + Streamlit. Runs on any laptop; students open it on their phones over the campus 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3700" y="2489200"/>
            <a:ext cx="6210300" cy="2171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37700" y="24892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37700" y="2743200"/>
            <a:ext cx="5727700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AI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7700" y="3173730"/>
            <a:ext cx="5727700" cy="1334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Pretrained EfficientNet-Lite0 (ImageNet), ONNX Runtime on CPU, 18 MB. About 150 classes mapped to materials.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000" y="4940300"/>
            <a:ext cx="6210300" cy="2171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8000" y="4940300"/>
            <a:ext cx="889000" cy="76200"/>
          </a:xfrm>
          <a:prstGeom prst="rect">
            <a:avLst/>
          </a:prstGeom>
          <a:solidFill>
            <a:srgbClr val="8B3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8000" y="5194300"/>
            <a:ext cx="5727700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Rules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5624830"/>
            <a:ext cx="5727700" cy="1334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Python context rules map material plus contamination and use to wet, dry, sanitary or special-care.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3700" y="4940300"/>
            <a:ext cx="6210300" cy="2171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37700" y="49403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5194300"/>
            <a:ext cx="5727700" cy="726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0F0F"/>
                </a:solidFill>
                <a:latin typeface="Inter"/>
              </a:rPr>
              <a:t>Data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700" y="5624830"/>
            <a:ext cx="5727700" cy="1334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4A4A55"/>
                </a:solidFill>
                <a:latin typeface="Inter"/>
              </a:rPr>
              <a:t>SQLite with audit log and demo flag. Pandas + Plotly for KPIs and charts. NumPy and Pillow for images.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4000" y="7429500"/>
            <a:ext cx="1270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020406"/>
                </a:solidFill>
                <a:latin typeface="Inter SemiBold"/>
              </a:rPr>
              <a:t>No cloud, no API keys, no new hardware. Photos are processed in memory and never stored.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19685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IMPACT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4000" y="2730500"/>
            <a:ext cx="6172200" cy="4381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8000" y="2730500"/>
            <a:ext cx="889000" cy="76200"/>
          </a:xfrm>
          <a:prstGeom prst="rect">
            <a:avLst/>
          </a:prstGeom>
          <a:solidFill>
            <a:srgbClr val="C4F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0" y="2984500"/>
            <a:ext cx="5689600" cy="79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0F0F0F"/>
                </a:solidFill>
                <a:latin typeface="Inter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3451860"/>
            <a:ext cx="5689600" cy="3507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Cleaner segregation at source, so more waste is compostable or recyclable</a:t>
            </a:r>
          </a:p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Campuses report verified kilograms recovered, not estimates</a:t>
            </a:r>
          </a:p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Safe handling of sanitary, sharp and hazardous items</a:t>
            </a:r>
          </a:p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Near-zero cost: an existing PC, a QR code at each bin cluster, housekeeping staff as collectors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1800" y="2730500"/>
            <a:ext cx="6172200" cy="4381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75800" y="2730500"/>
            <a:ext cx="889000" cy="76200"/>
          </a:xfrm>
          <a:prstGeom prst="rect">
            <a:avLst/>
          </a:prstGeom>
          <a:solidFill>
            <a:srgbClr val="2B5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75800" y="2984500"/>
            <a:ext cx="5689600" cy="79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0F0F0F"/>
                </a:solidFill>
                <a:latin typeface="Inter"/>
              </a:rPr>
              <a:t>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5800" y="3451860"/>
            <a:ext cx="5689600" cy="3507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Campus to ward to city: SQLite to Postgres, role-based logins, per-site location lists</a:t>
            </a:r>
          </a:p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Metrics map directly to urban local body reporting and plastic EPR tracking</a:t>
            </a:r>
          </a:p>
          <a:p>
            <a:pPr algn="l">
              <a:lnSpc>
                <a:spcPct val="110000"/>
              </a:lnSpc>
            </a:pPr>
            <a:r>
              <a:rPr sz="1950" b="0">
                <a:solidFill>
                  <a:srgbClr val="4A4A55"/>
                </a:solidFill>
                <a:latin typeface="Inter"/>
              </a:rPr>
              <a:t>• Model-agnostic: swap in a model fine-tuned on Indian waste images (TrashNet / TACO) with a one-file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94000" y="2032000"/>
            <a:ext cx="1270000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F0F0F"/>
                </a:solidFill>
                <a:latin typeface="Inter"/>
              </a:rPr>
              <a:t>FROM IDEA TO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0" y="2819400"/>
            <a:ext cx="13208000" cy="124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0">
                <a:solidFill>
                  <a:srgbClr val="2B59F0"/>
                </a:solidFill>
                <a:latin typeface="Inter ExtraBold"/>
              </a:rPr>
              <a:t>“The greatest threat to our planet is the belief that someone else will save 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4165600"/>
            <a:ext cx="1270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4A4A55"/>
                </a:solidFill>
                <a:latin typeface="Inter SemiBold"/>
              </a:rPr>
              <a:t>— Robert Swan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0" y="4927600"/>
            <a:ext cx="1270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20406"/>
                </a:solidFill>
                <a:latin typeface="Inter"/>
              </a:rPr>
              <a:t>WasteWise AI puts the power in every hand. Scan it. Sort it. Collect it. 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5664200"/>
            <a:ext cx="127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4A4A55"/>
                </a:solidFill>
                <a:latin typeface="Inter SemiBold"/>
              </a:rPr>
              <a:t>WasteWise AI · Team WasteWise · Aditya Ranjan &amp; Krishnansu Mohanty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